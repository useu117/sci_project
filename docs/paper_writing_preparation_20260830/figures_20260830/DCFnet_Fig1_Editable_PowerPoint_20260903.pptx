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bb6fc7b683445f" /><Relationship Type="http://schemas.openxmlformats.org/officeDocument/2006/relationships/extended-properties" Target="/docProps/app.xml" Id="Rf1f804ea26e3427c" /><Relationship Type="http://schemas.openxmlformats.org/officeDocument/2006/relationships/officeDocument" Target="/ppt/presentation.xml" Id="Ra6bf2696951a4d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fe00867fd44999"/>
  </p:sldMasterIdLst>
  <p:notesMasterIdLst>
    <p:notesMasterId xmlns:r="http://schemas.openxmlformats.org/officeDocument/2006/relationships" r:id="Rb4016ee4740c47c7"/>
  </p:notesMasterIdLst>
  <p:sldIdLst>
    <p:sldId xmlns:r="http://schemas.openxmlformats.org/officeDocument/2006/relationships" id="256" r:id="Ra0b6a98e1ac64555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8845a36f0c4d16" /><Relationship Type="http://schemas.openxmlformats.org/officeDocument/2006/relationships/slideMaster" Target="/ppt/slideMasters/slideMaster1.xml" Id="R37fe00867fd44999" /><Relationship Type="http://schemas.openxmlformats.org/officeDocument/2006/relationships/notesMaster" Target="/ppt/notesMasters/notesMaster1.xml" Id="Rb4016ee4740c47c7" /><Relationship Type="http://schemas.openxmlformats.org/officeDocument/2006/relationships/presProps" Target="/ppt/presProps.xml" Id="R024f9d33063a4c8b" /><Relationship Type="http://schemas.openxmlformats.org/officeDocument/2006/relationships/tableStyles" Target="/ppt/tableStyles.xml" Id="Re98321b6f7644a1e" /><Relationship Type="http://schemas.openxmlformats.org/officeDocument/2006/relationships/slide" Target="/ppt/slides/slide1.xml" Id="Ra0b6a98e1ac645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c15349f73648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c973ca792b415d" /><Relationship Type="http://schemas.openxmlformats.org/officeDocument/2006/relationships/notesMaster" Target="/ppt/notesMasters/notesMaster1.xml" Id="R0231ad3bc64c4f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manuscript: DCFnet_English_Draft_Through_Method_Revised_20260903.docx</a:t>
            </a:r>
          </a:p>
          <a:p xmlns:a="http://schemas.openxmlformats.org/drawingml/2006/main">
            <a:r>
              <a:t>- Local visual reference: DCFnet_Fig1_AI_reference_20260903.png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visible objects on this slide are editable PowerPoint shapes and connectors.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0ceafaa474d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160e92bd5b4568" /><Relationship Type="http://schemas.openxmlformats.org/officeDocument/2006/relationships/slideLayout" Target="/ppt/slideLayouts/slideLayout1.xml" Id="R43566d60ad9c4e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566d60ad9c4e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5c7c636654509" /><Relationship Type="http://schemas.openxmlformats.org/officeDocument/2006/relationships/notesSlide" Target="/ppt/notesSlides/notesSlide1.xml" Id="R1c2afe21c68f40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">
            <a:extLst xmlns:a="http://schemas.openxmlformats.org/drawingml/2006/main">
              <a:ext uri="{FF2B5EF4-FFF2-40B4-BE49-F238E27FC236}">
                <a16:creationId xmlns:a16="http://schemas.microsoft.com/office/drawing/2014/main" id="{2D700676-FB97-421E-9CEB-1344DBEF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05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DCFnet: Dual-Encoder Calibrated Fusion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F36D24-0AB3-43CA-81DB-DCE63363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"/>
            <a:ext cx="547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678"/>
                </a:solidFill>
              </a:defRPr>
            </a:pPr>
            <a:r>
              <a:rPr sz="1425" b="0">
                <a:solidFill>
                  <a:srgbClr val="5B6678"/>
                </a:solidFill>
              </a:rPr>
              <a:t>Normal-only few-shot industrial anomaly localization</a:t>
            </a:r>
          </a:p>
        </p:txBody>
      </p:sp>
      <p:sp>
        <p:nvSpPr>
          <p:cNvPr id="3" name="support-lane">
            <a:extLst xmlns:a="http://schemas.openxmlformats.org/drawingml/2006/main">
              <a:ext uri="{FF2B5EF4-FFF2-40B4-BE49-F238E27FC236}">
                <a16:creationId xmlns:a16="http://schemas.microsoft.com/office/drawing/2014/main" id="{70CC7BE5-7871-488A-AB91-0C9D0694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38303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7FC"/>
          </a:solidFill>
          <a:ln xmlns:a="http://schemas.openxmlformats.org/drawingml/2006/main" w="19050">
            <a:solidFill>
              <a:srgbClr val="173B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query-lane">
            <a:extLst xmlns:a="http://schemas.openxmlformats.org/drawingml/2006/main">
              <a:ext uri="{FF2B5EF4-FFF2-40B4-BE49-F238E27FC236}">
                <a16:creationId xmlns:a16="http://schemas.microsoft.com/office/drawing/2014/main" id="{07CB747D-67EA-4022-97B3-C8552B4D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3830300" cy="3848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0FAF9"/>
          </a:solidFill>
          <a:ln xmlns:a="http://schemas.openxmlformats.org/drawingml/2006/main" w="1905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support-label">
            <a:extLst xmlns:a="http://schemas.openxmlformats.org/drawingml/2006/main">
              <a:ext uri="{FF2B5EF4-FFF2-40B4-BE49-F238E27FC236}">
                <a16:creationId xmlns:a16="http://schemas.microsoft.com/office/drawing/2014/main" id="{2C875A42-E813-44C6-A912-0CDA0E7A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34766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3B67"/>
          </a:solidFill>
          <a:ln xmlns:a="http://schemas.openxmlformats.org/drawingml/2006/main" w="15240">
            <a:solidFill>
              <a:srgbClr val="173B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NORMAL SUPPORT PATH   K ∈ {1, 2, 4}</a:t>
            </a:r>
          </a:p>
        </p:txBody>
      </p:sp>
      <p:sp>
        <p:nvSpPr>
          <p:cNvPr id="6" name="query-label">
            <a:extLst xmlns:a="http://schemas.openxmlformats.org/drawingml/2006/main">
              <a:ext uri="{FF2B5EF4-FFF2-40B4-BE49-F238E27FC236}">
                <a16:creationId xmlns:a16="http://schemas.microsoft.com/office/drawing/2014/main" id="{850A10EF-7362-45F6-91DC-CBD3F282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24275"/>
            <a:ext cx="261937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67A7A"/>
          </a:solidFill>
          <a:ln xmlns:a="http://schemas.openxmlformats.org/drawingml/2006/main" w="1524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QUERY / INFERENCE PATH</a:t>
            </a:r>
          </a:p>
        </p:txBody>
      </p:sp>
      <p:sp>
        <p:nvSpPr>
          <p:cNvPr id="7" name="support-input">
            <a:extLst xmlns:a="http://schemas.openxmlformats.org/drawingml/2006/main">
              <a:ext uri="{FF2B5EF4-FFF2-40B4-BE49-F238E27FC236}">
                <a16:creationId xmlns:a16="http://schemas.microsoft.com/office/drawing/2014/main" id="{5B439953-BCCF-4D4E-B784-6845B6D6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143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4E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Verified normal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images</a:t>
            </a:r>
          </a:p>
        </p:txBody>
      </p:sp>
      <p:sp>
        <p:nvSpPr>
          <p:cNvPr id="8" name="support-dino">
            <a:extLst xmlns:a="http://schemas.openxmlformats.org/drawingml/2006/main">
              <a:ext uri="{FF2B5EF4-FFF2-40B4-BE49-F238E27FC236}">
                <a16:creationId xmlns:a16="http://schemas.microsoft.com/office/drawing/2014/main" id="{3DCC8F78-0E82-4AF0-B776-0876EF45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33500"/>
            <a:ext cx="20764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15240">
            <a:solidFill>
              <a:srgbClr val="254E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DINOv2 ViT-B/14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short side 448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768-D patches</a:t>
            </a:r>
          </a:p>
        </p:txBody>
      </p:sp>
      <p:sp>
        <p:nvSpPr>
          <p:cNvPr id="9" name="support-clip">
            <a:extLst xmlns:a="http://schemas.openxmlformats.org/drawingml/2006/main">
              <a:ext uri="{FF2B5EF4-FFF2-40B4-BE49-F238E27FC236}">
                <a16:creationId xmlns:a16="http://schemas.microsoft.com/office/drawing/2014/main" id="{989BBEE3-EAE2-4580-AED3-BA52FCFB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24100"/>
            <a:ext cx="20764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3F4F2"/>
          </a:solidFill>
          <a:ln xmlns:a="http://schemas.openxmlformats.org/drawingml/2006/main" w="15240">
            <a:solidFill>
              <a:srgbClr val="2B96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CLIP ViT-L/14@336 + DPAM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input 518 · layer 24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37 × 37 · 768-D</a:t>
            </a:r>
          </a:p>
        </p:txBody>
      </p:sp>
      <p:sp>
        <p:nvSpPr>
          <p:cNvPr id="10" name="support-align">
            <a:extLst xmlns:a="http://schemas.openxmlformats.org/drawingml/2006/main">
              <a:ext uri="{FF2B5EF4-FFF2-40B4-BE49-F238E27FC236}">
                <a16:creationId xmlns:a16="http://schemas.microsoft.com/office/drawing/2014/main" id="{6813D1BA-5D40-4BE1-A538-80C34715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0225"/>
            <a:ext cx="1428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4E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Spatial calibration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CLIP grid → DINO grid</a:t>
            </a:r>
          </a:p>
        </p:txBody>
      </p:sp>
      <p:sp>
        <p:nvSpPr>
          <p:cNvPr id="11" name="support-norm">
            <a:extLst xmlns:a="http://schemas.openxmlformats.org/drawingml/2006/main">
              <a:ext uri="{FF2B5EF4-FFF2-40B4-BE49-F238E27FC236}">
                <a16:creationId xmlns:a16="http://schemas.microsoft.com/office/drawing/2014/main" id="{F6524421-401B-47BC-8050-3D6B14A4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00225"/>
            <a:ext cx="13716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4E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Branch-wise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L2 normalization</a:t>
            </a:r>
          </a:p>
        </p:txBody>
      </p:sp>
      <p:sp>
        <p:nvSpPr>
          <p:cNvPr id="12" name="support-fuse">
            <a:extLst xmlns:a="http://schemas.openxmlformats.org/drawingml/2006/main">
              <a:ext uri="{FF2B5EF4-FFF2-40B4-BE49-F238E27FC236}">
                <a16:creationId xmlns:a16="http://schemas.microsoft.com/office/drawing/2014/main" id="{92825133-C091-4647-A826-DBB86C56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0225"/>
            <a:ext cx="15049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4E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Fixed 0.5 / 0.5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feature concatenation</a:t>
            </a:r>
          </a:p>
        </p:txBody>
      </p:sp>
      <p:sp>
        <p:nvSpPr>
          <p:cNvPr id="13" name="support-global">
            <a:extLst xmlns:a="http://schemas.openxmlformats.org/drawingml/2006/main">
              <a:ext uri="{FF2B5EF4-FFF2-40B4-BE49-F238E27FC236}">
                <a16:creationId xmlns:a16="http://schemas.microsoft.com/office/drawing/2014/main" id="{2FAB56E1-45B1-4266-A6D1-756373CB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800225"/>
            <a:ext cx="1619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4E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1536-D descriptor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Global L2 normalization</a:t>
            </a:r>
          </a:p>
        </p:txBody>
      </p:sp>
      <p:sp>
        <p:nvSpPr>
          <p:cNvPr id="14" name="normal-memory">
            <a:extLst xmlns:a="http://schemas.openxmlformats.org/drawingml/2006/main">
              <a:ext uri="{FF2B5EF4-FFF2-40B4-BE49-F238E27FC236}">
                <a16:creationId xmlns:a16="http://schemas.microsoft.com/office/drawing/2014/main" id="{3BA3971A-4FAB-423F-A54B-3497F0F4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16383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20955">
            <a:solidFill>
              <a:srgbClr val="173B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FIXED CATEGORY</a:t>
            </a:r>
          </a:p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NORMAL MEMORY</a:t>
            </a:r>
          </a:p>
        </p:txBody>
      </p:sp>
      <p:sp>
        <p:nvSpPr>
          <p:cNvPr id="15" name="query-input">
            <a:extLst xmlns:a="http://schemas.openxmlformats.org/drawingml/2006/main">
              <a:ext uri="{FF2B5EF4-FFF2-40B4-BE49-F238E27FC236}">
                <a16:creationId xmlns:a16="http://schemas.microsoft.com/office/drawing/2014/main" id="{8F73984F-CE5A-4F68-BB0D-E7DD52C8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143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Query image</a:t>
            </a:r>
          </a:p>
        </p:txBody>
      </p:sp>
      <p:sp>
        <p:nvSpPr>
          <p:cNvPr id="16" name="query-dino">
            <a:extLst xmlns:a="http://schemas.openxmlformats.org/drawingml/2006/main">
              <a:ext uri="{FF2B5EF4-FFF2-40B4-BE49-F238E27FC236}">
                <a16:creationId xmlns:a16="http://schemas.microsoft.com/office/drawing/2014/main" id="{634ADC91-7F5E-4357-BFA8-F6BA83B9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20764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15240">
            <a:solidFill>
              <a:srgbClr val="254E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DINOv2 ViT-B/14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448 · 768-D patches</a:t>
            </a:r>
          </a:p>
        </p:txBody>
      </p:sp>
      <p:sp>
        <p:nvSpPr>
          <p:cNvPr id="17" name="query-clip">
            <a:extLst xmlns:a="http://schemas.openxmlformats.org/drawingml/2006/main">
              <a:ext uri="{FF2B5EF4-FFF2-40B4-BE49-F238E27FC236}">
                <a16:creationId xmlns:a16="http://schemas.microsoft.com/office/drawing/2014/main" id="{4A9AF9DB-2B13-489E-A3C5-D63EC797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20764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3F4F2"/>
          </a:solidFill>
          <a:ln xmlns:a="http://schemas.openxmlformats.org/drawingml/2006/main" w="15240">
            <a:solidFill>
              <a:srgbClr val="2B969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CLIP ViT-L/14@336 + DPAM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518 · layer 24 · 768-D</a:t>
            </a:r>
          </a:p>
        </p:txBody>
      </p:sp>
      <p:sp>
        <p:nvSpPr>
          <p:cNvPr id="18" name="query-align">
            <a:extLst xmlns:a="http://schemas.openxmlformats.org/drawingml/2006/main">
              <a:ext uri="{FF2B5EF4-FFF2-40B4-BE49-F238E27FC236}">
                <a16:creationId xmlns:a16="http://schemas.microsoft.com/office/drawing/2014/main" id="{5E15F725-7099-440A-9617-FBAF0EAB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91075"/>
            <a:ext cx="1428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Spatial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calibration</a:t>
            </a:r>
          </a:p>
        </p:txBody>
      </p:sp>
      <p:sp>
        <p:nvSpPr>
          <p:cNvPr id="19" name="query-norm">
            <a:extLst xmlns:a="http://schemas.openxmlformats.org/drawingml/2006/main">
              <a:ext uri="{FF2B5EF4-FFF2-40B4-BE49-F238E27FC236}">
                <a16:creationId xmlns:a16="http://schemas.microsoft.com/office/drawing/2014/main" id="{D403A2EA-7E72-4B04-8162-E0F2477E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791075"/>
            <a:ext cx="137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Branch-wise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L2 normalization</a:t>
            </a:r>
          </a:p>
        </p:txBody>
      </p:sp>
      <p:sp>
        <p:nvSpPr>
          <p:cNvPr id="20" name="query-fuse">
            <a:extLst xmlns:a="http://schemas.openxmlformats.org/drawingml/2006/main">
              <a:ext uri="{FF2B5EF4-FFF2-40B4-BE49-F238E27FC236}">
                <a16:creationId xmlns:a16="http://schemas.microsoft.com/office/drawing/2014/main" id="{4C053C70-46D6-48C7-922F-00EE7ACD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91075"/>
            <a:ext cx="15049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Fixed 0.5 / 0.5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concatenation</a:t>
            </a:r>
          </a:p>
        </p:txBody>
      </p:sp>
      <p:sp>
        <p:nvSpPr>
          <p:cNvPr id="21" name="query-global">
            <a:extLst xmlns:a="http://schemas.openxmlformats.org/drawingml/2006/main">
              <a:ext uri="{FF2B5EF4-FFF2-40B4-BE49-F238E27FC236}">
                <a16:creationId xmlns:a16="http://schemas.microsoft.com/office/drawing/2014/main" id="{3AB975D5-726F-4855-AF67-9A7719DF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791075"/>
            <a:ext cx="16192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1536-D +</a:t>
            </a:r>
          </a:p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Global L2</a:t>
            </a:r>
          </a:p>
        </p:txBody>
      </p:sp>
      <p:sp>
        <p:nvSpPr>
          <p:cNvPr id="22" name="query-descriptors">
            <a:extLst xmlns:a="http://schemas.openxmlformats.org/drawingml/2006/main">
              <a:ext uri="{FF2B5EF4-FFF2-40B4-BE49-F238E27FC236}">
                <a16:creationId xmlns:a16="http://schemas.microsoft.com/office/drawing/2014/main" id="{009A4ACE-ABB7-4146-9478-67B62E5D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791075"/>
            <a:ext cx="1809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3F4F2"/>
          </a:solidFill>
          <a:ln xmlns:a="http://schemas.openxmlformats.org/drawingml/2006/main" w="1524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Fused query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Patch descriptors</a:t>
            </a:r>
          </a:p>
        </p:txBody>
      </p:sp>
      <p:sp>
        <p:nvSpPr>
          <p:cNvPr id="23" name="faiss">
            <a:extLst xmlns:a="http://schemas.openxmlformats.org/drawingml/2006/main">
              <a:ext uri="{FF2B5EF4-FFF2-40B4-BE49-F238E27FC236}">
                <a16:creationId xmlns:a16="http://schemas.microsoft.com/office/drawing/2014/main" id="{5B471E49-3E85-4ADE-8F08-54068E32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791200"/>
            <a:ext cx="18097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Exact FAISS 1-NN</a:t>
            </a:r>
          </a:p>
        </p:txBody>
      </p:sp>
      <p:sp>
        <p:nvSpPr>
          <p:cNvPr id="24" name="distance">
            <a:extLst xmlns:a="http://schemas.openxmlformats.org/drawingml/2006/main">
              <a:ext uri="{FF2B5EF4-FFF2-40B4-BE49-F238E27FC236}">
                <a16:creationId xmlns:a16="http://schemas.microsoft.com/office/drawing/2014/main" id="{4BE2028A-C2DA-4422-B8FA-3D3A5975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267450"/>
            <a:ext cx="18097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Squared L2 distance / 2</a:t>
            </a:r>
          </a:p>
        </p:txBody>
      </p:sp>
      <p:sp>
        <p:nvSpPr>
          <p:cNvPr id="25" name="resize">
            <a:extLst xmlns:a="http://schemas.openxmlformats.org/drawingml/2006/main">
              <a:ext uri="{FF2B5EF4-FFF2-40B4-BE49-F238E27FC236}">
                <a16:creationId xmlns:a16="http://schemas.microsoft.com/office/drawing/2014/main" id="{A3C5FDCC-28CE-4D2B-BEB2-B39931D3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6743700"/>
            <a:ext cx="18097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Bilinear upsampling → 448 × 448</a:t>
            </a:r>
          </a:p>
        </p:txBody>
      </p:sp>
      <p:sp>
        <p:nvSpPr>
          <p:cNvPr id="26" name="output">
            <a:extLst xmlns:a="http://schemas.openxmlformats.org/drawingml/2006/main">
              <a:ext uri="{FF2B5EF4-FFF2-40B4-BE49-F238E27FC236}">
                <a16:creationId xmlns:a16="http://schemas.microsoft.com/office/drawing/2014/main" id="{8ED6F2B2-1830-497F-A33E-410D0479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934200"/>
            <a:ext cx="48577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15240">
            <a:solidFill>
              <a:srgbClr val="167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Gaussian σ = 4  →  Pixel anomaly map  |  Image score = max</a:t>
            </a:r>
          </a:p>
        </p:txBody>
      </p:sp>
      <p:sp>
        <p:nvSpPr>
          <p:cNvPr id="27" name="dino-control">
            <a:extLst xmlns:a="http://schemas.openxmlformats.org/drawingml/2006/main">
              <a:ext uri="{FF2B5EF4-FFF2-40B4-BE49-F238E27FC236}">
                <a16:creationId xmlns:a16="http://schemas.microsoft.com/office/drawing/2014/main" id="{E31331B7-D917-4911-968B-C8F95DA8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419850"/>
            <a:ext cx="781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B969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MATCHED DINO-ONLY CONTROL   ·   Same references, 1-NN scoring, upsampling, smoothing, and evaluator</a:t>
            </a:r>
          </a:p>
        </p:txBody>
      </p: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790700" y="1752600"/>
            <a:ext cx="40005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690AE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790700" y="2124075"/>
            <a:ext cx="4000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690AE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267200" y="1752600"/>
            <a:ext cx="419100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690AE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267200" y="2171700"/>
            <a:ext cx="41910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690AE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115050" y="21717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90AE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20025" y="21717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90AE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658350" y="21717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90AE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1610975" y="217170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90AE"/>
            </a:solidFill>
            <a:prstDash val="solid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1790700" y="4676775"/>
            <a:ext cx="400050" cy="438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790700" y="5114925"/>
            <a:ext cx="400050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267200" y="4676775"/>
            <a:ext cx="41910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267200" y="5153025"/>
            <a:ext cx="419100" cy="457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115050" y="51530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820025" y="51530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658350" y="51530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1610975" y="515302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2925425" y="551497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14" idx="3"/>
            <a:endCxn xmlns:a="http://schemas.openxmlformats.org/drawingml/2006/main" id="23" idx="3"/>
          </p:cNvCxnSpPr>
          <p:nvPr/>
        </p:nvCxnSpPr>
        <p:spPr>
          <a:xfrm xmlns:a="http://schemas.openxmlformats.org/drawingml/2006/main">
            <a:off x="13830300" y="2171700"/>
            <a:ext cx="0" cy="381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B67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2925425" y="61912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2925425" y="66675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11715750" y="6943725"/>
            <a:ext cx="30480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A7A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2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10001250" y="5991225"/>
            <a:ext cx="201930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B9693"/>
            </a:solidFill>
            <a:prstDash val="dash"/>
            <a:tailEnd type="triangle" w="sm" len="sm"/>
          </a:ln>
        </p:spPr>
      </p:cxnSp>
      <p:sp>
        <p:nvSpPr>
          <p:cNvPr id="50" name="image-only-note">
            <a:extLst xmlns:a="http://schemas.openxmlformats.org/drawingml/2006/main">
              <a:ext uri="{FF2B5EF4-FFF2-40B4-BE49-F238E27FC236}">
                <a16:creationId xmlns:a16="http://schemas.microsoft.com/office/drawing/2014/main" id="{5B1C730C-9C7F-4A12-A456-D857AE19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7A7A"/>
                </a:solidFill>
              </a:defRPr>
            </a:pPr>
            <a:r>
              <a:rPr sz="1125" b="0">
                <a:solidFill>
                  <a:srgbClr val="167A7A"/>
                </a:solidFill>
              </a:rPr>
              <a:t>Image tower only · no text encoder, prompts, or language scores at inference</a:t>
            </a:r>
          </a:p>
        </p:txBody>
      </p:sp>
      <p:sp>
        <p:nvSpPr>
          <p:cNvPr id="51" name="footer-strip">
            <a:extLst xmlns:a="http://schemas.openxmlformats.org/drawingml/2006/main">
              <a:ext uri="{FF2B5EF4-FFF2-40B4-BE49-F238E27FC236}">
                <a16:creationId xmlns:a16="http://schemas.microsoft.com/office/drawing/2014/main" id="{727D02FA-3259-4150-B9F1-A5B6C6FC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724775"/>
            <a:ext cx="79629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4E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FROZEN ENCODERS     |     NORMAL REFERENCES ONLY     |     0 TARGET-DOMAIN TRAINABLE PARAMETERS</a:t>
            </a:r>
          </a:p>
        </p:txBody>
      </p:sp>
    </p:spTree>
    <p:extLst>
      <p:ext uri="{BB962C8B-B14F-4D97-AF65-F5344CB8AC3E}">
        <p14:creationId xmlns:p14="http://schemas.microsoft.com/office/powerpoint/2010/main" val="323854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2026-09-03T15:36:50.4570000Z</dcterms:created>
  <dcterms:modified xsi:type="dcterms:W3CDTF">2026-09-03T15:36:50.4570000Z</dcterms:modified>
</coreProperties>
</file>