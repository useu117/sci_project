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e5d098bf5b4dfe" /><Relationship Type="http://schemas.openxmlformats.org/officeDocument/2006/relationships/extended-properties" Target="/docProps/app.xml" Id="R0d515bad7e72496a" /><Relationship Type="http://schemas.openxmlformats.org/officeDocument/2006/relationships/officeDocument" Target="/ppt/presentation.xml" Id="R360f7abe931d43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7ba4b343c14a90"/>
  </p:sldMasterIdLst>
  <p:notesMasterIdLst>
    <p:notesMasterId xmlns:r="http://schemas.openxmlformats.org/officeDocument/2006/relationships" r:id="R7c8418286e2c4d01"/>
  </p:notesMasterIdLst>
  <p:sldIdLst>
    <p:sldId xmlns:r="http://schemas.openxmlformats.org/officeDocument/2006/relationships" id="256" r:id="R749613908a164f5f"/>
  </p:sldIdLst>
  <p:sldSz cx="11430000" cy="590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6a3bacd4794418" /><Relationship Type="http://schemas.openxmlformats.org/officeDocument/2006/relationships/slideMaster" Target="/ppt/slideMasters/slideMaster1.xml" Id="R537ba4b343c14a90" /><Relationship Type="http://schemas.openxmlformats.org/officeDocument/2006/relationships/notesMaster" Target="/ppt/notesMasters/notesMaster1.xml" Id="R7c8418286e2c4d01" /><Relationship Type="http://schemas.openxmlformats.org/officeDocument/2006/relationships/presProps" Target="/ppt/presProps.xml" Id="R0f6fd5a82a554487" /><Relationship Type="http://schemas.openxmlformats.org/officeDocument/2006/relationships/tableStyles" Target="/ppt/tableStyles.xml" Id="R6e71046a07904375" /><Relationship Type="http://schemas.openxmlformats.org/officeDocument/2006/relationships/slide" Target="/ppt/slides/slide1.xml" Id="R749613908a16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9912ea0234f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27ddfff94a4460" /><Relationship Type="http://schemas.openxmlformats.org/officeDocument/2006/relationships/notesMaster" Target="/ppt/notesMasters/notesMaster1.xml" Id="R3c6d5f5e5b894b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DCFnet_Fig1_Editable_PowerPoint_20260903.pptx and DCFnet_English_Draft_Through_Method_Revised_20260903.docx. The same descriptor extractor applies independently to support and query images. Normal references only; no target-domain trainable parameters. The matched DINO-only control is an experimental comparison, not an input to the fused memory. CLIP features use the image tower only. The diagram uses native editable shapes, text and connectors.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24ef0f6a142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eac88cf91f456a" /><Relationship Type="http://schemas.openxmlformats.org/officeDocument/2006/relationships/slideLayout" Target="/ppt/slideLayouts/slideLayout1.xml" Id="R9f355f9120d8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55f9120d8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f6f25aab14554" /><Relationship Type="http://schemas.openxmlformats.org/officeDocument/2006/relationships/notesSlide" Target="/ppt/notesSlides/notesSlide1.xml" Id="R8ce98123eec0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ection-a">
            <a:extLst xmlns:a="http://schemas.openxmlformats.org/drawingml/2006/main">
              <a:ext uri="{FF2B5EF4-FFF2-40B4-BE49-F238E27FC236}">
                <a16:creationId xmlns:a16="http://schemas.microsoft.com/office/drawing/2014/main" id="{91EE6AA2-AF5C-4DD2-B5E9-CC129AF8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9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(a) Shared visual descriptor extraction</a:t>
            </a:r>
          </a:p>
        </p:txBody>
      </p:sp>
      <p:sp>
        <p:nvSpPr>
          <p:cNvPr id="2" name="shared-note">
            <a:extLst xmlns:a="http://schemas.openxmlformats.org/drawingml/2006/main">
              <a:ext uri="{FF2B5EF4-FFF2-40B4-BE49-F238E27FC236}">
                <a16:creationId xmlns:a16="http://schemas.microsoft.com/office/drawing/2014/main" id="{129422CF-2287-45C5-973B-5C4B00C4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"/>
            <a:ext cx="595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Applied separately to support and query images</a:t>
            </a:r>
          </a:p>
        </p:txBody>
      </p:sp>
      <p:sp>
        <p:nvSpPr>
          <p:cNvPr id="3" name="image-input">
            <a:extLst xmlns:a="http://schemas.openxmlformats.org/drawingml/2006/main">
              <a:ext uri="{FF2B5EF4-FFF2-40B4-BE49-F238E27FC236}">
                <a16:creationId xmlns:a16="http://schemas.microsoft.com/office/drawing/2014/main" id="{77CF4F5D-72D3-436C-8522-0C912EE4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257300"/>
            <a:ext cx="138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Support or</a:t>
            </a:r>
          </a:p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query image</a:t>
            </a:r>
          </a:p>
        </p:txBody>
      </p:sp>
      <p:sp>
        <p:nvSpPr>
          <p:cNvPr id="4" name="dino">
            <a:extLst xmlns:a="http://schemas.openxmlformats.org/drawingml/2006/main">
              <a:ext uri="{FF2B5EF4-FFF2-40B4-BE49-F238E27FC236}">
                <a16:creationId xmlns:a16="http://schemas.microsoft.com/office/drawing/2014/main" id="{44F076F8-4764-4CA5-AEBE-E919EF08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9125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DINOv2 ViT-B/14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Short side 448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768-D patches</a:t>
            </a:r>
          </a:p>
        </p:txBody>
      </p:sp>
      <p:sp>
        <p:nvSpPr>
          <p:cNvPr id="5" name="clip">
            <a:extLst xmlns:a="http://schemas.openxmlformats.org/drawingml/2006/main">
              <a:ext uri="{FF2B5EF4-FFF2-40B4-BE49-F238E27FC236}">
                <a16:creationId xmlns:a16="http://schemas.microsoft.com/office/drawing/2014/main" id="{40CC1D94-25F1-4FB4-8520-10B3E33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24050"/>
            <a:ext cx="2238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CLIP ViT-L/14@336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DPAM, layer 24</a:t>
            </a:r>
          </a:p>
          <a:p xmlns:a="http://schemas.openxmlformats.org/drawingml/2006/main">
            <a:pPr algn="ctr">
              <a:defRPr sz="16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124"/>
                </a:solidFill>
                <a:latin typeface="Arial"/>
                <a:ea typeface="Arial"/>
                <a:cs typeface="Arial"/>
              </a:rPr>
              <a:t>Input 518, 768-D</a:t>
            </a:r>
          </a:p>
        </p:txBody>
      </p:sp>
      <p:sp>
        <p:nvSpPr>
          <p:cNvPr id="6" name="dino-grid00">
            <a:extLst xmlns:a="http://schemas.openxmlformats.org/drawingml/2006/main">
              <a:ext uri="{FF2B5EF4-FFF2-40B4-BE49-F238E27FC236}">
                <a16:creationId xmlns:a16="http://schemas.microsoft.com/office/drawing/2014/main" id="{05497B3E-E8AF-42F6-A0E1-86224CCA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74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ino-grid01">
            <a:extLst xmlns:a="http://schemas.openxmlformats.org/drawingml/2006/main">
              <a:ext uri="{FF2B5EF4-FFF2-40B4-BE49-F238E27FC236}">
                <a16:creationId xmlns:a16="http://schemas.microsoft.com/office/drawing/2014/main" id="{5B315515-BAF6-4E9C-A4B8-47FA984E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74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ino-grid02">
            <a:extLst xmlns:a="http://schemas.openxmlformats.org/drawingml/2006/main">
              <a:ext uri="{FF2B5EF4-FFF2-40B4-BE49-F238E27FC236}">
                <a16:creationId xmlns:a16="http://schemas.microsoft.com/office/drawing/2014/main" id="{F6200F4A-F757-4E62-AB40-C312657A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74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dino-grid03">
            <a:extLst xmlns:a="http://schemas.openxmlformats.org/drawingml/2006/main">
              <a:ext uri="{FF2B5EF4-FFF2-40B4-BE49-F238E27FC236}">
                <a16:creationId xmlns:a16="http://schemas.microsoft.com/office/drawing/2014/main" id="{74921FAF-C9C8-40F8-81AC-81EDEAA6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74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ino-grid10">
            <a:extLst xmlns:a="http://schemas.openxmlformats.org/drawingml/2006/main">
              <a:ext uri="{FF2B5EF4-FFF2-40B4-BE49-F238E27FC236}">
                <a16:creationId xmlns:a16="http://schemas.microsoft.com/office/drawing/2014/main" id="{C4EB9E08-0FA5-485A-B745-68EECB85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85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ino-grid11">
            <a:extLst xmlns:a="http://schemas.openxmlformats.org/drawingml/2006/main">
              <a:ext uri="{FF2B5EF4-FFF2-40B4-BE49-F238E27FC236}">
                <a16:creationId xmlns:a16="http://schemas.microsoft.com/office/drawing/2014/main" id="{091EA75B-68DC-4E25-BDD1-2E700090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85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dino-grid12">
            <a:extLst xmlns:a="http://schemas.openxmlformats.org/drawingml/2006/main">
              <a:ext uri="{FF2B5EF4-FFF2-40B4-BE49-F238E27FC236}">
                <a16:creationId xmlns:a16="http://schemas.microsoft.com/office/drawing/2014/main" id="{14D532CD-AF17-4BE7-99BB-F22C4E52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5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dino-grid13">
            <a:extLst xmlns:a="http://schemas.openxmlformats.org/drawingml/2006/main">
              <a:ext uri="{FF2B5EF4-FFF2-40B4-BE49-F238E27FC236}">
                <a16:creationId xmlns:a16="http://schemas.microsoft.com/office/drawing/2014/main" id="{4A6F1F07-5D5D-477C-BFA6-7C0509A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857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dino-grid20">
            <a:extLst xmlns:a="http://schemas.openxmlformats.org/drawingml/2006/main">
              <a:ext uri="{FF2B5EF4-FFF2-40B4-BE49-F238E27FC236}">
                <a16:creationId xmlns:a16="http://schemas.microsoft.com/office/drawing/2014/main" id="{C1FCED5C-EDA9-4C99-AB41-CA1BA861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971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dino-grid21">
            <a:extLst xmlns:a="http://schemas.openxmlformats.org/drawingml/2006/main">
              <a:ext uri="{FF2B5EF4-FFF2-40B4-BE49-F238E27FC236}">
                <a16:creationId xmlns:a16="http://schemas.microsoft.com/office/drawing/2014/main" id="{F5B26B61-F5AC-46CF-9D96-CF3E4FEA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971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dino-grid22">
            <a:extLst xmlns:a="http://schemas.openxmlformats.org/drawingml/2006/main">
              <a:ext uri="{FF2B5EF4-FFF2-40B4-BE49-F238E27FC236}">
                <a16:creationId xmlns:a16="http://schemas.microsoft.com/office/drawing/2014/main" id="{730FA96E-E4F2-4AFB-B971-04F6417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71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dino-grid23">
            <a:extLst xmlns:a="http://schemas.openxmlformats.org/drawingml/2006/main">
              <a:ext uri="{FF2B5EF4-FFF2-40B4-BE49-F238E27FC236}">
                <a16:creationId xmlns:a16="http://schemas.microsoft.com/office/drawing/2014/main" id="{4D8FE21D-2F14-4D93-8F01-169D5DE4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971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dino-grid30">
            <a:extLst xmlns:a="http://schemas.openxmlformats.org/drawingml/2006/main">
              <a:ext uri="{FF2B5EF4-FFF2-40B4-BE49-F238E27FC236}">
                <a16:creationId xmlns:a16="http://schemas.microsoft.com/office/drawing/2014/main" id="{7EFFD912-E7FB-46DF-A47F-06B54F4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085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dino-grid31">
            <a:extLst xmlns:a="http://schemas.openxmlformats.org/drawingml/2006/main">
              <a:ext uri="{FF2B5EF4-FFF2-40B4-BE49-F238E27FC236}">
                <a16:creationId xmlns:a16="http://schemas.microsoft.com/office/drawing/2014/main" id="{AAEDDAE8-A5F2-4006-AEF5-4FBF5B7F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085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dino-grid32">
            <a:extLst xmlns:a="http://schemas.openxmlformats.org/drawingml/2006/main">
              <a:ext uri="{FF2B5EF4-FFF2-40B4-BE49-F238E27FC236}">
                <a16:creationId xmlns:a16="http://schemas.microsoft.com/office/drawing/2014/main" id="{AA502920-CB1B-48B6-852D-A6C24BF0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85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dino-grid33">
            <a:extLst xmlns:a="http://schemas.openxmlformats.org/drawingml/2006/main">
              <a:ext uri="{FF2B5EF4-FFF2-40B4-BE49-F238E27FC236}">
                <a16:creationId xmlns:a16="http://schemas.microsoft.com/office/drawing/2014/main" id="{5718ED93-4F2F-4DFA-9B7E-93EB7A1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085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dino-gridanchor">
            <a:extLst xmlns:a="http://schemas.openxmlformats.org/drawingml/2006/main">
              <a:ext uri="{FF2B5EF4-FFF2-40B4-BE49-F238E27FC236}">
                <a16:creationId xmlns:a16="http://schemas.microsoft.com/office/drawing/2014/main" id="{C98DBD01-98C6-4397-8339-FDE5446E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74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clip-grid00">
            <a:extLst xmlns:a="http://schemas.openxmlformats.org/drawingml/2006/main">
              <a:ext uri="{FF2B5EF4-FFF2-40B4-BE49-F238E27FC236}">
                <a16:creationId xmlns:a16="http://schemas.microsoft.com/office/drawing/2014/main" id="{68E18A6A-9CE9-4957-BE69-A0B8E591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clip-grid01">
            <a:extLst xmlns:a="http://schemas.openxmlformats.org/drawingml/2006/main">
              <a:ext uri="{FF2B5EF4-FFF2-40B4-BE49-F238E27FC236}">
                <a16:creationId xmlns:a16="http://schemas.microsoft.com/office/drawing/2014/main" id="{B08C20EE-3C19-49B5-8133-D54FDCB8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2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clip-grid02">
            <a:extLst xmlns:a="http://schemas.openxmlformats.org/drawingml/2006/main">
              <a:ext uri="{FF2B5EF4-FFF2-40B4-BE49-F238E27FC236}">
                <a16:creationId xmlns:a16="http://schemas.microsoft.com/office/drawing/2014/main" id="{7DC13181-202C-47B7-8545-3D3D4CB0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clip-grid03">
            <a:extLst xmlns:a="http://schemas.openxmlformats.org/drawingml/2006/main">
              <a:ext uri="{FF2B5EF4-FFF2-40B4-BE49-F238E27FC236}">
                <a16:creationId xmlns:a16="http://schemas.microsoft.com/office/drawing/2014/main" id="{8984558D-2EF5-41D9-9B3A-5B9E38F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28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clip-grid10">
            <a:extLst xmlns:a="http://schemas.openxmlformats.org/drawingml/2006/main">
              <a:ext uri="{FF2B5EF4-FFF2-40B4-BE49-F238E27FC236}">
                <a16:creationId xmlns:a16="http://schemas.microsoft.com/office/drawing/2014/main" id="{5DB05493-6E27-4F6D-9EE5-944A3335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clip-grid11">
            <a:extLst xmlns:a="http://schemas.openxmlformats.org/drawingml/2006/main">
              <a:ext uri="{FF2B5EF4-FFF2-40B4-BE49-F238E27FC236}">
                <a16:creationId xmlns:a16="http://schemas.microsoft.com/office/drawing/2014/main" id="{A28301A6-E68E-46BC-B57B-69D9806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clip-grid12">
            <a:extLst xmlns:a="http://schemas.openxmlformats.org/drawingml/2006/main">
              <a:ext uri="{FF2B5EF4-FFF2-40B4-BE49-F238E27FC236}">
                <a16:creationId xmlns:a16="http://schemas.microsoft.com/office/drawing/2014/main" id="{461AC53A-8CF4-4EED-B4C6-1700B01A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clip-grid13">
            <a:extLst xmlns:a="http://schemas.openxmlformats.org/drawingml/2006/main">
              <a:ext uri="{FF2B5EF4-FFF2-40B4-BE49-F238E27FC236}">
                <a16:creationId xmlns:a16="http://schemas.microsoft.com/office/drawing/2014/main" id="{05A960DA-DF82-4139-BFF2-E2C668FB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43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clip-grid20">
            <a:extLst xmlns:a="http://schemas.openxmlformats.org/drawingml/2006/main">
              <a:ext uri="{FF2B5EF4-FFF2-40B4-BE49-F238E27FC236}">
                <a16:creationId xmlns:a16="http://schemas.microsoft.com/office/drawing/2014/main" id="{B0C5638B-F498-4E24-9E2D-5497EC20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57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clip-grid21">
            <a:extLst xmlns:a="http://schemas.openxmlformats.org/drawingml/2006/main">
              <a:ext uri="{FF2B5EF4-FFF2-40B4-BE49-F238E27FC236}">
                <a16:creationId xmlns:a16="http://schemas.microsoft.com/office/drawing/2014/main" id="{A7C0F8DF-FAD3-49B4-922D-99362571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57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clip-grid22">
            <a:extLst xmlns:a="http://schemas.openxmlformats.org/drawingml/2006/main">
              <a:ext uri="{FF2B5EF4-FFF2-40B4-BE49-F238E27FC236}">
                <a16:creationId xmlns:a16="http://schemas.microsoft.com/office/drawing/2014/main" id="{6696EC31-3967-4380-BBC0-E9CCCC3D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57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clip-grid23">
            <a:extLst xmlns:a="http://schemas.openxmlformats.org/drawingml/2006/main">
              <a:ext uri="{FF2B5EF4-FFF2-40B4-BE49-F238E27FC236}">
                <a16:creationId xmlns:a16="http://schemas.microsoft.com/office/drawing/2014/main" id="{4A4E9FBF-32AC-4E1C-9D25-0E11AFC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57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clip-grid30">
            <a:extLst xmlns:a="http://schemas.openxmlformats.org/drawingml/2006/main">
              <a:ext uri="{FF2B5EF4-FFF2-40B4-BE49-F238E27FC236}">
                <a16:creationId xmlns:a16="http://schemas.microsoft.com/office/drawing/2014/main" id="{D0C1E8B5-DBCD-481A-981F-AE1F94B0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371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clip-grid31">
            <a:extLst xmlns:a="http://schemas.openxmlformats.org/drawingml/2006/main">
              <a:ext uri="{FF2B5EF4-FFF2-40B4-BE49-F238E27FC236}">
                <a16:creationId xmlns:a16="http://schemas.microsoft.com/office/drawing/2014/main" id="{8D43DFA8-3F21-489F-ACC9-9EA73CB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71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clip-grid32">
            <a:extLst xmlns:a="http://schemas.openxmlformats.org/drawingml/2006/main">
              <a:ext uri="{FF2B5EF4-FFF2-40B4-BE49-F238E27FC236}">
                <a16:creationId xmlns:a16="http://schemas.microsoft.com/office/drawing/2014/main" id="{46F32CD5-BAB6-4ABD-B343-B5C51AD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71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clip-grid33">
            <a:extLst xmlns:a="http://schemas.openxmlformats.org/drawingml/2006/main">
              <a:ext uri="{FF2B5EF4-FFF2-40B4-BE49-F238E27FC236}">
                <a16:creationId xmlns:a16="http://schemas.microsoft.com/office/drawing/2014/main" id="{0D98A58F-52E1-4D4E-9E04-20D6C723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71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clip-gridanchor">
            <a:extLst xmlns:a="http://schemas.openxmlformats.org/drawingml/2006/main">
              <a:ext uri="{FF2B5EF4-FFF2-40B4-BE49-F238E27FC236}">
                <a16:creationId xmlns:a16="http://schemas.microsoft.com/office/drawing/2014/main" id="{447C8EFC-C08E-4680-A511-11370415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28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dino-grid-label">
            <a:extLst xmlns:a="http://schemas.openxmlformats.org/drawingml/2006/main">
              <a:ext uri="{FF2B5EF4-FFF2-40B4-BE49-F238E27FC236}">
                <a16:creationId xmlns:a16="http://schemas.microsoft.com/office/drawing/2014/main" id="{70F2F707-9183-419C-AD38-43159FCC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2573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6688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6884"/>
                </a:solidFill>
                <a:latin typeface="Arial"/>
                <a:ea typeface="Arial"/>
                <a:cs typeface="Arial"/>
              </a:rPr>
              <a:t>hᴅ × wᴅ</a:t>
            </a:r>
          </a:p>
        </p:txBody>
      </p:sp>
      <p:sp>
        <p:nvSpPr>
          <p:cNvPr id="41" name="clip-grid-label">
            <a:extLst xmlns:a="http://schemas.openxmlformats.org/drawingml/2006/main">
              <a:ext uri="{FF2B5EF4-FFF2-40B4-BE49-F238E27FC236}">
                <a16:creationId xmlns:a16="http://schemas.microsoft.com/office/drawing/2014/main" id="{37F1D2BC-B7E5-4A54-817C-64E0AF0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431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86E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886E4A"/>
                </a:solidFill>
                <a:latin typeface="Arial"/>
                <a:ea typeface="Arial"/>
                <a:cs typeface="Arial"/>
              </a:rPr>
              <a:t>37 × 37</a:t>
            </a:r>
          </a:p>
        </p:txBody>
      </p:sp>
      <p:sp>
        <p:nvSpPr>
          <p:cNvPr id="42" name="alignment">
            <a:extLst xmlns:a="http://schemas.openxmlformats.org/drawingml/2006/main">
              <a:ext uri="{FF2B5EF4-FFF2-40B4-BE49-F238E27FC236}">
                <a16:creationId xmlns:a16="http://schemas.microsoft.com/office/drawing/2014/main" id="{C9C482A7-1A2F-4A55-9C69-E0E27769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257300"/>
            <a:ext cx="1666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Spatial alignment</a:t>
            </a:r>
          </a:p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CLIP grid to</a:t>
            </a:r>
          </a:p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DINO grid</a:t>
            </a:r>
          </a:p>
        </p:txBody>
      </p:sp>
      <p:sp>
        <p:nvSpPr>
          <p:cNvPr id="43" name="branch-normalize">
            <a:extLst xmlns:a="http://schemas.openxmlformats.org/drawingml/2006/main">
              <a:ext uri="{FF2B5EF4-FFF2-40B4-BE49-F238E27FC236}">
                <a16:creationId xmlns:a16="http://schemas.microsoft.com/office/drawing/2014/main" id="{428A70F4-0777-4915-B169-FC691A3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667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Branch-wise L2</a:t>
            </a:r>
          </a:p>
        </p:txBody>
      </p:sp>
      <p:sp>
        <p:nvSpPr>
          <p:cNvPr id="44" name="fusion">
            <a:extLst xmlns:a="http://schemas.openxmlformats.org/drawingml/2006/main">
              <a:ext uri="{FF2B5EF4-FFF2-40B4-BE49-F238E27FC236}">
                <a16:creationId xmlns:a16="http://schemas.microsoft.com/office/drawing/2014/main" id="{32BA3103-A343-4749-ACB6-91ED7D42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[0.5 fᴅ ; 0.5 fᴄ]</a:t>
            </a:r>
          </a:p>
          <a:p xmlns:a="http://schemas.openxmlformats.org/drawingml/2006/main">
            <a:pPr algn="ctr"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Concatenation</a:t>
            </a:r>
          </a:p>
          <a:p xmlns:a="http://schemas.openxmlformats.org/drawingml/2006/main">
            <a:pPr algn="ctr">
              <a:defRPr sz="18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124"/>
                </a:solidFill>
                <a:latin typeface="Arial"/>
                <a:ea typeface="Arial"/>
                <a:cs typeface="Arial"/>
              </a:rPr>
              <a:t>Global L2</a:t>
            </a:r>
          </a:p>
        </p:txBody>
      </p:sp>
      <p:sp>
        <p:nvSpPr>
          <p:cNvPr id="45" name="norm-explanation">
            <a:extLst xmlns:a="http://schemas.openxmlformats.org/drawingml/2006/main">
              <a:ext uri="{FF2B5EF4-FFF2-40B4-BE49-F238E27FC236}">
                <a16:creationId xmlns:a16="http://schemas.microsoft.com/office/drawing/2014/main" id="{9CD05077-3754-4BAB-AA10-93B0FDDD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33625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fᴅ and fᴄ: unit-norm</a:t>
            </a:r>
          </a:p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branch descriptors</a:t>
            </a:r>
          </a:p>
        </p:txBody>
      </p:sp>
      <p:sp>
        <p:nvSpPr>
          <p:cNvPr id="46" name="fused-descriptor">
            <a:extLst xmlns:a="http://schemas.openxmlformats.org/drawingml/2006/main">
              <a:ext uri="{FF2B5EF4-FFF2-40B4-BE49-F238E27FC236}">
                <a16:creationId xmlns:a16="http://schemas.microsoft.com/office/drawing/2014/main" id="{DAA53CB2-B1C6-4734-800B-D7D701C3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7635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1536-D</a:t>
            </a:r>
          </a:p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patch descriptor</a:t>
            </a:r>
          </a:p>
          <a:p xmlns:a="http://schemas.openxmlformats.org/drawingml/2006/main">
            <a:pPr algn="ctr">
              <a:defRPr sz="180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cxnSp>
        <p:nvCxnSpPr>
          <p:cNvPr id="11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495425" y="1104900"/>
            <a:ext cx="266700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495425" y="1590675"/>
            <a:ext cx="266700" cy="819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4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4000500" y="971550"/>
            <a:ext cx="295275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4000500" y="2257425"/>
            <a:ext cx="295275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20" name=""/>
          <p:cNvCxnSpPr>
            <a:stCxn xmlns:a="http://schemas.openxmlformats.org/drawingml/2006/main" id="22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4752975" y="971550"/>
            <a:ext cx="438150" cy="7000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39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 flipV="1">
            <a:off x="4752975" y="1671638"/>
            <a:ext cx="438150" cy="585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22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858000" y="1671638"/>
            <a:ext cx="38100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23" name=""/>
          <p:cNvCxnSpPr>
            <a:stCxn xmlns:a="http://schemas.openxmlformats.org/drawingml/2006/main" id="44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9334500" y="1676400"/>
            <a:ext cx="4572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55" name="visual-only">
            <a:extLst xmlns:a="http://schemas.openxmlformats.org/drawingml/2006/main">
              <a:ext uri="{FF2B5EF4-FFF2-40B4-BE49-F238E27FC236}">
                <a16:creationId xmlns:a16="http://schemas.microsoft.com/office/drawing/2014/main" id="{AA46CCBD-8E52-4CA1-8CC6-CAA0404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71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Frozen visual encoders. No text encoder or prompts at inference.</a:t>
            </a:r>
          </a:p>
        </p:txBody>
      </p:sp>
      <p:sp>
        <p:nvSpPr>
          <p:cNvPr id="56" name="separator">
            <a:extLst xmlns:a="http://schemas.openxmlformats.org/drawingml/2006/main">
              <a:ext uri="{FF2B5EF4-FFF2-40B4-BE49-F238E27FC236}">
                <a16:creationId xmlns:a16="http://schemas.microsoft.com/office/drawing/2014/main" id="{30A7C162-E323-4CF3-B378-0AD41F40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371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section-b">
            <a:extLst xmlns:a="http://schemas.openxmlformats.org/drawingml/2006/main">
              <a:ext uri="{FF2B5EF4-FFF2-40B4-BE49-F238E27FC236}">
                <a16:creationId xmlns:a16="http://schemas.microsoft.com/office/drawing/2014/main" id="{2ECDDA9D-7029-45A7-B307-24ECDB5C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861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(b) Normal memory and anomaly scoring</a:t>
            </a:r>
          </a:p>
        </p:txBody>
      </p:sp>
      <p:sp>
        <p:nvSpPr>
          <p:cNvPr id="58" name="support-descriptors">
            <a:extLst xmlns:a="http://schemas.openxmlformats.org/drawingml/2006/main">
              <a:ext uri="{FF2B5EF4-FFF2-40B4-BE49-F238E27FC236}">
                <a16:creationId xmlns:a16="http://schemas.microsoft.com/office/drawing/2014/main" id="{0621C489-7550-40D1-BAEB-95A1561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924300"/>
            <a:ext cx="1952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Normal support</a:t>
            </a:r>
          </a:p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descriptors</a:t>
            </a:r>
          </a:p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K ∈ {1, 2, 4}</a:t>
            </a:r>
          </a:p>
        </p:txBody>
      </p:sp>
      <p:sp>
        <p:nvSpPr>
          <p:cNvPr id="59" name="memory">
            <a:extLst xmlns:a="http://schemas.openxmlformats.org/drawingml/2006/main">
              <a:ext uri="{FF2B5EF4-FFF2-40B4-BE49-F238E27FC236}">
                <a16:creationId xmlns:a16="http://schemas.microsoft.com/office/drawing/2014/main" id="{D6AA520B-363A-45A6-BE0C-6E39BCF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433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124"/>
                </a:solidFill>
                <a:latin typeface="Arial"/>
                <a:ea typeface="Arial"/>
                <a:cs typeface="Arial"/>
              </a:rPr>
              <a:t>Fixed category</a:t>
            </a:r>
          </a:p>
          <a:p xmlns:a="http://schemas.openxmlformats.org/drawingml/2006/main">
            <a:pPr algn="ctr">
              <a:defRPr sz="17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124"/>
                </a:solidFill>
                <a:latin typeface="Arial"/>
                <a:ea typeface="Arial"/>
                <a:cs typeface="Arial"/>
              </a:rPr>
              <a:t>normal memory</a:t>
            </a:r>
          </a:p>
        </p:txBody>
      </p:sp>
      <p:sp>
        <p:nvSpPr>
          <p:cNvPr id="60" name="query-descriptors">
            <a:extLst xmlns:a="http://schemas.openxmlformats.org/drawingml/2006/main">
              <a:ext uri="{FF2B5EF4-FFF2-40B4-BE49-F238E27FC236}">
                <a16:creationId xmlns:a16="http://schemas.microsoft.com/office/drawing/2014/main" id="{5539AA75-0767-46F3-913D-7FAD1E4C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905375"/>
            <a:ext cx="1990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Query descriptors</a:t>
            </a:r>
          </a:p>
        </p:txBody>
      </p:sp>
      <p:sp>
        <p:nvSpPr>
          <p:cNvPr id="61" name="nearest-neighbor">
            <a:extLst xmlns:a="http://schemas.openxmlformats.org/drawingml/2006/main">
              <a:ext uri="{FF2B5EF4-FFF2-40B4-BE49-F238E27FC236}">
                <a16:creationId xmlns:a16="http://schemas.microsoft.com/office/drawing/2014/main" id="{8FBEDDD7-F7CC-4A26-88DB-62A93C4D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2915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7777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124"/>
                </a:solidFill>
                <a:latin typeface="Arial"/>
                <a:ea typeface="Arial"/>
                <a:cs typeface="Arial"/>
              </a:rPr>
              <a:t>Exact FAISS 1-NN</a:t>
            </a:r>
          </a:p>
          <a:p xmlns:a="http://schemas.openxmlformats.org/drawingml/2006/main">
            <a:pPr algn="ctr">
              <a:defRPr sz="17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124"/>
                </a:solidFill>
                <a:latin typeface="Arial"/>
                <a:ea typeface="Arial"/>
                <a:cs typeface="Arial"/>
              </a:rPr>
              <a:t>Squared L2 / 2</a:t>
            </a:r>
          </a:p>
        </p:txBody>
      </p:sp>
      <p:sp>
        <p:nvSpPr>
          <p:cNvPr id="62" name="postprocessing">
            <a:extLst xmlns:a="http://schemas.openxmlformats.org/drawingml/2006/main">
              <a:ext uri="{FF2B5EF4-FFF2-40B4-BE49-F238E27FC236}">
                <a16:creationId xmlns:a16="http://schemas.microsoft.com/office/drawing/2014/main" id="{04C144EC-6C2F-4B17-A491-2320643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71975"/>
            <a:ext cx="2028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Bilinear upsampling</a:t>
            </a:r>
          </a:p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448 × 448</a:t>
            </a:r>
          </a:p>
          <a:p xmlns:a="http://schemas.openxmlformats.org/drawingml/2006/main">
            <a:pPr algn="ctr">
              <a:defRPr sz="1725" b="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124"/>
                </a:solidFill>
                <a:latin typeface="Arial"/>
                <a:ea typeface="Arial"/>
                <a:cs typeface="Arial"/>
              </a:rPr>
              <a:t>Gaussian σ = 4</a:t>
            </a:r>
          </a:p>
        </p:txBody>
      </p:sp>
      <p:sp>
        <p:nvSpPr>
          <p:cNvPr id="63" name="output">
            <a:extLst xmlns:a="http://schemas.openxmlformats.org/drawingml/2006/main">
              <a:ext uri="{FF2B5EF4-FFF2-40B4-BE49-F238E27FC236}">
                <a16:creationId xmlns:a16="http://schemas.microsoft.com/office/drawing/2014/main" id="{D5EA4ABB-0CB1-4245-815A-BB0BC6B6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524375"/>
            <a:ext cx="17049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Pixel anomaly map</a:t>
            </a:r>
          </a:p>
          <a:p xmlns:a="http://schemas.openxmlformats.org/drawingml/2006/main">
            <a:pPr algn="ctr">
              <a:defRPr sz="1725" b="1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2124"/>
                </a:solidFill>
                <a:latin typeface="Arial"/>
                <a:ea typeface="Arial"/>
                <a:cs typeface="Arial"/>
              </a:rPr>
              <a:t>Image score: max</a:t>
            </a:r>
          </a:p>
        </p:txBody>
      </p:sp>
      <p:cxnSp>
        <p:nvCxnSpPr>
          <p:cNvPr id="13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 flipV="1">
            <a:off x="2095500" y="4248150"/>
            <a:ext cx="361950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2162175" y="4953000"/>
            <a:ext cx="27432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59" idx="3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4533900" y="4248150"/>
            <a:ext cx="1400175" cy="381000"/>
          </a:xfrm>
          <a:prstGeom xmlns:a="http://schemas.openxmlformats.org/drawingml/2006/main" prst="bentConnector2">
            <a:avLst/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 flipV="1">
            <a:off x="6962775" y="4819650"/>
            <a:ext cx="428625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9420225" y="4819650"/>
            <a:ext cx="2667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3335">
            <a:solidFill>
              <a:srgbClr val="555555"/>
            </a:solidFill>
            <a:prstDash val="solid"/>
            <a:tailEnd type="triangle" w="sm" len="sm"/>
          </a:ln>
        </p:spPr>
      </p:cxnSp>
      <p:sp>
        <p:nvSpPr>
          <p:cNvPr id="69" name="matched-control">
            <a:extLst xmlns:a="http://schemas.openxmlformats.org/drawingml/2006/main">
              <a:ext uri="{FF2B5EF4-FFF2-40B4-BE49-F238E27FC236}">
                <a16:creationId xmlns:a16="http://schemas.microsoft.com/office/drawing/2014/main" id="{50B1BF6C-21F9-4A9F-90FE-E9FD802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4673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DINO-only control: same references, scoring, postprocessing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293328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2026-09-04T09:31:58.0450000Z</dcterms:created>
  <dcterms:modified xsi:type="dcterms:W3CDTF">2026-09-04T09:31:58.0450000Z</dcterms:modified>
</coreProperties>
</file>